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Roboto Mono" panose="00000009000000000000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S9TubBSGvsXrdCclXD4GiUoL0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.jp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749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 rot="-300000">
            <a:off x="-44862" y="1868812"/>
            <a:ext cx="9144000" cy="1428750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71500" y="571500"/>
            <a:ext cx="6429375" cy="1508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6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74"/>
              <a:buFont typeface="Inter"/>
              <a:buNone/>
            </a:pPr>
            <a:r>
              <a:rPr lang="en-US" sz="497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 Months</a:t>
            </a:r>
            <a:br>
              <a:rPr lang="en-US" sz="497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97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 Long</a:t>
            </a:r>
            <a:endParaRPr sz="49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71500" y="2251677"/>
            <a:ext cx="6429375" cy="1014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4075" tIns="0" rIns="0" bIns="0" anchor="t" anchorCtr="0">
            <a:spAutoFit/>
          </a:bodyPr>
          <a:lstStyle/>
          <a:p>
            <a:pPr marL="0" marR="0" lvl="0" indent="0" algn="l" rtl="0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704"/>
              <a:buFont typeface="Roboto Mono"/>
              <a:buNone/>
            </a:pPr>
            <a:r>
              <a:rPr lang="en-US" sz="1704" b="0" i="0" u="none" strike="noStrike" cap="none" dirty="0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Ireland HSE Waiting List Analytics</a:t>
            </a:r>
            <a:br>
              <a:rPr lang="en-US" sz="1704" b="0" i="0" u="none" strike="noStrike" cap="none" dirty="0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704" b="0" i="0" u="none" strike="noStrike" cap="none" dirty="0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2018–2021</a:t>
            </a:r>
          </a:p>
          <a:p>
            <a:pPr marL="0" marR="0" lvl="0" indent="0" algn="l" rtl="0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704"/>
              <a:buFont typeface="Roboto Mono"/>
              <a:buNone/>
            </a:pPr>
            <a:endParaRPr sz="1704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71500" y="3921919"/>
            <a:ext cx="8001000" cy="65008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71500" y="3921919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71500" y="4157663"/>
            <a:ext cx="2173486" cy="2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Inter"/>
              <a:buNone/>
            </a:pPr>
            <a:r>
              <a:rPr lang="en-US" sz="119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Nallabothula Pavan Kumar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71500" y="4421981"/>
            <a:ext cx="2173486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07619" y="4311253"/>
            <a:ext cx="1850231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807619" y="4311253"/>
            <a:ext cx="1850231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EXPLORATORY DATA ANALYSIS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43575" y="4311253"/>
            <a:ext cx="628650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743575" y="4311253"/>
            <a:ext cx="628650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PYTHON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57950" y="4311253"/>
            <a:ext cx="435769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517038" y="4318397"/>
            <a:ext cx="483838" cy="27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 dirty="0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SQL</a:t>
            </a:r>
            <a:endParaRPr sz="727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79444" y="4311253"/>
            <a:ext cx="1593056" cy="26074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979444" y="4311253"/>
            <a:ext cx="1593056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68050" rIns="136000" bIns="6805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INTERACTIVE DASHBOARD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71500" y="428625"/>
            <a:ext cx="8001000" cy="36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Inter"/>
              <a:buNone/>
            </a:pPr>
            <a:r>
              <a:rPr lang="en-US" sz="2121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Agenda: A Data-Driven Journey</a:t>
            </a:r>
            <a:endParaRPr sz="2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71500" y="907256"/>
            <a:ext cx="8001000" cy="16966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71500" y="907256"/>
            <a:ext cx="21431" cy="169664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71500" y="907256"/>
            <a:ext cx="8001000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942"/>
              <a:buFont typeface="Roboto Mono"/>
              <a:buNone/>
            </a:pPr>
            <a:r>
              <a:rPr lang="en-US" sz="942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Through Ireland's Healthcare Crisis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71500" y="1676995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028700" y="1695748"/>
            <a:ext cx="135731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Business Problem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57750" y="1676995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314950" y="1695748"/>
            <a:ext cx="1350169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Dataset Overview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71500" y="2253853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28700" y="2272605"/>
            <a:ext cx="178772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Key Metrics at a Glance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57750" y="2253853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14950" y="2272605"/>
            <a:ext cx="128230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Volume &amp; Trends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71500" y="2830711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28700" y="2849463"/>
            <a:ext cx="1993106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COVID-19 Impact Analysis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857750" y="2830711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314950" y="2849463"/>
            <a:ext cx="1757363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Specialty Risk Analysis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71500" y="3407569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28700" y="3426321"/>
            <a:ext cx="1107281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Demographics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57750" y="3407569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314950" y="3426321"/>
            <a:ext cx="1441252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Statistical Analysis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71500" y="3984427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28700" y="4003179"/>
            <a:ext cx="1416248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57750" y="3984427"/>
            <a:ext cx="28575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14950" y="4003179"/>
            <a:ext cx="1641277" cy="18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1090"/>
              <a:buFont typeface="Inter"/>
              <a:buNone/>
            </a:pPr>
            <a:r>
              <a:rPr lang="en-US" sz="1090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Conclusion &amp; Contact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Ireland's Healthcare System Faces a Structural Waiting Crisis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71500" y="855464"/>
            <a:ext cx="8001000" cy="398264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71500" y="855464"/>
            <a:ext cx="28575" cy="39826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71500" y="855464"/>
            <a:ext cx="8001000" cy="39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102100" rIns="102100" bIns="102100" anchor="t" anchorCtr="0">
            <a:spAutoFit/>
          </a:bodyPr>
          <a:lstStyle/>
          <a:p>
            <a:pPr marL="0" marR="0" lvl="0" indent="0" algn="l" rtl="0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1269"/>
              <a:buFont typeface="Roboto Mono"/>
              <a:buNone/>
            </a:pPr>
            <a:r>
              <a:rPr lang="en-US" sz="1269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24.6M total patient-waits recorded · 4.58M waiting 18+ months (18.6%)</a:t>
            </a:r>
            <a:endParaRPr sz="12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71500" y="1425178"/>
            <a:ext cx="2590781" cy="1362670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85800" y="1539478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62520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685800" y="1968103"/>
            <a:ext cx="1544836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Chronic Backlog at Scale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85800" y="2209205"/>
            <a:ext cx="236218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Nearly 1 in 5 patients waited longer than 18 months, far exceeding acceptable clinical thresholds and international benchmarks.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76581" y="1425178"/>
            <a:ext cx="2590809" cy="1362670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390881" y="1539478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55175" y="162520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3390881" y="1968103"/>
            <a:ext cx="1810941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Resource–Demand Mismatch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390881" y="2209205"/>
            <a:ext cx="236220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Outpatient services carry 88.2% of the total patient-wait volume, yet inpatient capacity decisions dominate policy discussions.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981691" y="1425178"/>
            <a:ext cx="2590781" cy="1362670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095991" y="1539478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1000" y="1625203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6095991" y="1968103"/>
            <a:ext cx="140374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COVID-19 Surge Effect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095991" y="2209205"/>
            <a:ext cx="236218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The pandemic triggered a +121% surge in 18+ month inpatient waiters within just 12 months, compressing years of backlog growth.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71500" y="2887861"/>
            <a:ext cx="3943350" cy="1212652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85800" y="3002161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241" y="308788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685800" y="3430786"/>
            <a:ext cx="112156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Specialty Inequity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85800" y="3671888"/>
            <a:ext cx="37147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ENT, Eyes, and Urology specialties exhibit long-wait rates exceeding 20–32%, indicating that the bottleneck is capacity allocation.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629150" y="2887861"/>
            <a:ext cx="3943350" cy="1212652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743450" y="3002161"/>
            <a:ext cx="342900" cy="342900"/>
          </a:xfrm>
          <a:prstGeom prst="ellipse">
            <a:avLst/>
          </a:prstGeom>
          <a:solidFill>
            <a:srgbClr val="2D7FF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9175" y="308788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4743450" y="3430786"/>
            <a:ext cx="161448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Absence of Early Warning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743450" y="3671888"/>
            <a:ext cx="371475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Despite a statistically confirmed upward trend (Spearman ρ = 0.194), no automated monitoring mechanism existed to flag deterioration.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Dataset: 452,944 Records Spanning Three Years of HSE Activity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71500" y="1026914"/>
            <a:ext cx="2500313" cy="912614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2950" y="1198364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42950" y="1376958"/>
            <a:ext cx="215741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Roboto Mono"/>
              <a:buNone/>
            </a:pPr>
            <a:r>
              <a:rPr lang="en-US" sz="119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HSE Open Data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42950" y="1632347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data.gov.ie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71500" y="2153841"/>
            <a:ext cx="2500313" cy="987623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742950" y="2325291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TOTAL RECORDS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42950" y="2503884"/>
            <a:ext cx="2157413" cy="30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Roboto Mono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452,944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42950" y="2834283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Jan 2018 – Mar 2021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71500" y="3355777"/>
            <a:ext cx="2500313" cy="1235869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42950" y="3527227"/>
            <a:ext cx="2157413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RECORD BREAKDOWN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42950" y="3762970"/>
            <a:ext cx="7340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Outpatient (OP)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593181" y="3762970"/>
            <a:ext cx="30718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59.8%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2950" y="3927277"/>
            <a:ext cx="2157413" cy="42863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42950" y="4084439"/>
            <a:ext cx="60186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Inpatient (IP)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87823" y="4084439"/>
            <a:ext cx="312539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Inter"/>
                <a:ea typeface="Inter"/>
                <a:cs typeface="Inter"/>
                <a:sym typeface="Inter"/>
              </a:rPr>
              <a:t>40.2%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42950" y="4248745"/>
            <a:ext cx="2157413" cy="42863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0438" y="10403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3700463" y="1026914"/>
            <a:ext cx="95547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Key Data Fields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500438" y="1296591"/>
            <a:ext cx="1258612" cy="310753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500438" y="1593056"/>
            <a:ext cx="1258612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500438" y="1296591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Field Name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59049" y="1296591"/>
            <a:ext cx="3813451" cy="310753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759049" y="1593056"/>
            <a:ext cx="3813451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759049" y="1296591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500438" y="1600200"/>
            <a:ext cx="1258612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Archive Date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759049" y="1600200"/>
            <a:ext cx="3813451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Monthly snapshot date (Jan 2018 – Mar 2021)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500438" y="1907381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Specialty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59049" y="1907381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Clinical specialty (e.g., ENT, Orthopaedics)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500438" y="2218134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Case Type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59049" y="2218134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Inpatient or Outpatient classification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500438" y="2528888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Age Group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759049" y="2528888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Adult or Child categorization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500438" y="2839641"/>
            <a:ext cx="1258612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Time Band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759049" y="2839641"/>
            <a:ext cx="3813451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Waiting duration category (7 bands)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500438" y="3150394"/>
            <a:ext cx="1258612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Total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759049" y="3150394"/>
            <a:ext cx="3813451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Number of patients in that specific cohort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0438" y="369957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>
            <a:off x="3700463" y="3686175"/>
            <a:ext cx="732234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Time Bands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500438" y="3955852"/>
            <a:ext cx="703659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3500438" y="3955852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0–3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261247" y="3955852"/>
            <a:ext cx="703659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261247" y="3955852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3–6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022056" y="3955852"/>
            <a:ext cx="703659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022056" y="3955852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6–9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782866" y="3955852"/>
            <a:ext cx="755452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782866" y="3955852"/>
            <a:ext cx="755452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9–12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595467" y="3955852"/>
            <a:ext cx="807244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595467" y="3955852"/>
            <a:ext cx="807244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12–15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459861" y="3955852"/>
            <a:ext cx="807244" cy="212527"/>
          </a:xfrm>
          <a:prstGeom prst="rect">
            <a:avLst/>
          </a:prstGeom>
          <a:solidFill>
            <a:srgbClr val="FF5F7E">
              <a:alpha val="10196"/>
            </a:srgbClr>
          </a:solidFill>
          <a:ln w="9525" cap="flat" cmpd="sng">
            <a:solidFill>
              <a:srgbClr val="FF5F7E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7459861" y="3955852"/>
            <a:ext cx="807244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15–18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500438" y="4225528"/>
            <a:ext cx="703659" cy="212527"/>
          </a:xfrm>
          <a:prstGeom prst="rect">
            <a:avLst/>
          </a:prstGeom>
          <a:solidFill>
            <a:srgbClr val="FF5F7E">
              <a:alpha val="20000"/>
            </a:srgbClr>
          </a:solidFill>
          <a:ln w="9525" cap="flat" cmpd="sng">
            <a:solidFill>
              <a:srgbClr val="FF5F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3500438" y="4225528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18+ Months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00438" y="4697016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3593306" y="4688086"/>
            <a:ext cx="4943475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4"/>
              <a:buFont typeface="Inter"/>
              <a:buNone/>
            </a:pPr>
            <a:r>
              <a:rPr lang="en-US" sz="674" b="0" i="1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Data Quality Note: 191 records with missing HIPE codes were identified; analysis proceeds on complete records.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500438" y="4800600"/>
            <a:ext cx="1480542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4"/>
              <a:buFont typeface="Inter"/>
              <a:buNone/>
            </a:pPr>
            <a:r>
              <a:rPr lang="en-US" sz="674" b="0" i="1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No patient-level linkage available.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Six KPIs Reveal the Scale and Severity of the Crisis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71500" y="826889"/>
            <a:ext cx="8001000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942"/>
              <a:buFont typeface="Roboto Mono"/>
              <a:buNone/>
            </a:pPr>
            <a:r>
              <a:rPr lang="en-US" sz="942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Key Metrics at a Glance — Ireland HSE Waiting Lists 2018–2021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71500" y="1282303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71500" y="1282303"/>
            <a:ext cx="2552691" cy="2857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117047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571500" y="2832497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571500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42950" y="1453753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TOTAL PATIENT-WAITS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42950" y="1648420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24.6M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42950" y="2295320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Accumulated volume across all specialties (2018–2021)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295641" y="1282303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3295641" y="1282303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841188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295641" y="2832497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3295641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467091" y="1453753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WAITING 18+ MONTHS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467091" y="1648420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4.58M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467091" y="2295320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18.6%</a:t>
            </a: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of all patients waited longer than the 1.5 year threshold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019781" y="1282303"/>
            <a:ext cx="2552719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019781" y="1282303"/>
            <a:ext cx="2552719" cy="2857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8565356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019781" y="2832497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019781" y="1282303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191231" y="1453753"/>
            <a:ext cx="2209819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OUTPATIENT SHARE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191231" y="1648420"/>
            <a:ext cx="2209819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88.2%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191231" y="2295320"/>
            <a:ext cx="2209819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Dominant case type by volume, driving the backlog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71500" y="3011091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71500" y="3011091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3117047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71500" y="456128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71500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742950" y="3182541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COVID SURGE (18+ MO IP)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42950" y="3377208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+121%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42950" y="4024108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Inpatient long-waiters jumped from 5,105 to 11,306 in 12 months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295641" y="3011091"/>
            <a:ext cx="2552691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295641" y="3011091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5841188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3295641" y="456128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295641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3467091" y="3182541"/>
            <a:ext cx="2209791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HIGHEST LONG-WAIT RATE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3467091" y="3377208"/>
            <a:ext cx="2209791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32%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467091" y="4024108"/>
            <a:ext cx="2209791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</a:t>
            </a: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is the worst-performing specialty for delays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019781" y="3011091"/>
            <a:ext cx="2552719" cy="1557338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6019781" y="3011091"/>
            <a:ext cx="2552719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8565356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6019781" y="4561284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019781" y="3011091"/>
            <a:ext cx="7144" cy="15573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6191231" y="3182541"/>
            <a:ext cx="2209819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TREND CONFIRMATION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191231" y="3377208"/>
            <a:ext cx="2209819" cy="37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52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2436"/>
              <a:buFont typeface="Roboto Mono"/>
              <a:buNone/>
            </a:pPr>
            <a:r>
              <a:rPr lang="en-US" sz="2436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ρ=0.194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191231" y="4024108"/>
            <a:ext cx="2209819" cy="3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10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Spearman correlation confirms statistically significant deterioration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2019 Was the Last Year of Improvement Before COVID Reversed All Gains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71500" y="762595"/>
            <a:ext cx="8001000" cy="15001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571500" y="762595"/>
            <a:ext cx="21431" cy="150019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71500" y="762595"/>
            <a:ext cx="80010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Volume &amp; Trends Analysis · 2018–2021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71500" y="1126927"/>
            <a:ext cx="2500313" cy="3445073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14375" y="1269802"/>
            <a:ext cx="2214563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Annual Volume Context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14375" y="1521619"/>
            <a:ext cx="2214563" cy="13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2018: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Baseline year with moderate volumes.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14375" y="1737354"/>
            <a:ext cx="2214563" cy="26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2019: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74" b="0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Only year of improvement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in 18+ month wait rates.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714375" y="2083101"/>
            <a:ext cx="2214563" cy="26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2020: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COVID-19 struck, elective services suspended.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14375" y="2428847"/>
            <a:ext cx="2214563" cy="13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2021:</a:t>
            </a: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Backlog accelerating rapidly.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14375" y="1521619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714375" y="1737354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14375" y="2083101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714375" y="2428847"/>
            <a:ext cx="44648" cy="1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728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Inter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787458"/>
            <a:ext cx="2200275" cy="162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6"/>
          <p:cNvSpPr/>
          <p:nvPr/>
        </p:nvSpPr>
        <p:spPr>
          <a:xfrm>
            <a:off x="3243263" y="1126927"/>
            <a:ext cx="5329238" cy="3445073"/>
          </a:xfrm>
          <a:prstGeom prst="rect">
            <a:avLst/>
          </a:prstGeom>
          <a:solidFill>
            <a:srgbClr val="FFFFFF">
              <a:alpha val="5098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3386138" y="1269802"/>
            <a:ext cx="180022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Monthly 18+ Month Waiter Trend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720608" y="1285875"/>
            <a:ext cx="709017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84"/>
              <a:buFont typeface="Inter"/>
              <a:buNone/>
            </a:pPr>
            <a:r>
              <a:rPr lang="en-US" sz="584" b="1" i="0" u="none" strike="noStrike" cap="none">
                <a:solidFill>
                  <a:srgbClr val="FF5F7E"/>
                </a:solidFill>
                <a:latin typeface="Inter"/>
                <a:ea typeface="Inter"/>
                <a:cs typeface="Inter"/>
                <a:sym typeface="Inter"/>
              </a:rPr>
              <a:t>COVID-19 Impact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6138" y="1521619"/>
            <a:ext cx="5029200" cy="227528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6"/>
          <p:cNvSpPr/>
          <p:nvPr/>
        </p:nvSpPr>
        <p:spPr>
          <a:xfrm>
            <a:off x="6866120" y="1843088"/>
            <a:ext cx="557213" cy="123230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6866120" y="1843088"/>
            <a:ext cx="557213" cy="1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050" tIns="17000" rIns="51050" bIns="17000" anchor="t" anchorCtr="0">
            <a:spAutoFit/>
          </a:bodyPr>
          <a:lstStyle/>
          <a:p>
            <a:pPr marL="0" marR="0" lvl="0" indent="0" algn="l" rtl="0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60D18"/>
              </a:buClr>
              <a:buSzPts val="485"/>
              <a:buFont typeface="Roboto Mono"/>
              <a:buNone/>
            </a:pPr>
            <a:r>
              <a:rPr lang="en-US" sz="485" b="1" i="0" u="none" strike="noStrike" cap="none">
                <a:solidFill>
                  <a:srgbClr val="060D18"/>
                </a:solidFill>
                <a:latin typeface="Roboto Mono"/>
                <a:ea typeface="Roboto Mono"/>
                <a:cs typeface="Roboto Mono"/>
                <a:sym typeface="Roboto Mono"/>
              </a:rPr>
              <a:t>COVID SHOCK</a:t>
            </a:r>
            <a:endParaRPr sz="4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386138" y="3911203"/>
            <a:ext cx="5043488" cy="503634"/>
          </a:xfrm>
          <a:prstGeom prst="rect">
            <a:avLst/>
          </a:prstGeom>
          <a:solidFill>
            <a:srgbClr val="FF5F7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3386138" y="3911203"/>
            <a:ext cx="28575" cy="503634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3500438" y="4025503"/>
            <a:ext cx="4814888" cy="27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lang="en-US" sz="784" b="1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"2019 was the last year of improvement — COVID erased two years of progress in under 12 months."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571500" y="433983"/>
            <a:ext cx="1628775" cy="16787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571500" y="594717"/>
            <a:ext cx="1628775" cy="7144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571500" y="433983"/>
            <a:ext cx="1628775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025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COVID-19 IMPACT ANALYSIS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71500" y="766167"/>
            <a:ext cx="8001000" cy="1110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COVID-19 Triggered a +121% Surge in the Most Vulnerable Wait Category</a:t>
            </a:r>
          </a:p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endParaRPr sz="180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71500" y="1503759"/>
            <a:ext cx="4766304" cy="3080742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51715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/>
          <p:nvPr/>
        </p:nvSpPr>
        <p:spPr>
          <a:xfrm>
            <a:off x="800100" y="1505545"/>
            <a:ext cx="1900238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Pre-COVID vs. Post-COVID Impact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28650" y="1700213"/>
            <a:ext cx="1860779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Metric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489429" y="1700213"/>
            <a:ext cx="93039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Feb 2020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419819" y="1700213"/>
            <a:ext cx="930390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Mar 2021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350209" y="1700213"/>
            <a:ext cx="930446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68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Change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28650" y="1893094"/>
            <a:ext cx="1860779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Monthly 18+ Mo Inpatient Waiters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489429" y="1893094"/>
            <a:ext cx="9303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5,105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419819" y="1893094"/>
            <a:ext cx="930390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11,306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350209" y="1893094"/>
            <a:ext cx="930446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+121%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28650" y="2250281"/>
            <a:ext cx="1860779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Total Active Waiters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2489429" y="2250281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~620K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419819" y="2250281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~850K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350209" y="2250281"/>
            <a:ext cx="930446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+37%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28650" y="2475309"/>
            <a:ext cx="1860779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18+ Month Share of All Waits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2489429" y="2475309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15%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419819" y="2475309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22%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350209" y="2475309"/>
            <a:ext cx="930446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+7 pp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28650" y="2700338"/>
            <a:ext cx="1860779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Elective Procedure Capacity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2489429" y="2700338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419819" y="2700338"/>
            <a:ext cx="93039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~40%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350209" y="2700338"/>
            <a:ext cx="930446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51050" anchor="ctr" anchorCtr="0">
            <a:spAutoFit/>
          </a:bodyPr>
          <a:lstStyle/>
          <a:p>
            <a:pPr marL="0" marR="0" lvl="0" indent="0" algn="r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Roboto Mono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−60%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302627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"/>
          <p:cNvSpPr/>
          <p:nvPr/>
        </p:nvSpPr>
        <p:spPr>
          <a:xfrm>
            <a:off x="800100" y="3014663"/>
            <a:ext cx="710803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Key Findings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28650" y="3209330"/>
            <a:ext cx="465200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Aging Backlog: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The surge was not driven by new demand, but by existing patients aging into longer time bands while services were suspended.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28650" y="3552230"/>
            <a:ext cx="465200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Accelerating Crisis: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The backlog was still accelerating at the March 2021 data cut-off, indicating the peak had not yet been reached.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628650" y="3895130"/>
            <a:ext cx="465200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Inpatient Hit Hardest: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Inpatient services faced disproportionate disruption due to bed reallocation for COVID-19 care.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5394954" y="1448395"/>
            <a:ext cx="3177546" cy="2221204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628650" y="3209330"/>
            <a:ext cx="4822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28650" y="3552230"/>
            <a:ext cx="4822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28650" y="3895130"/>
            <a:ext cx="4822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2D7FF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52104" y="151715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7"/>
          <p:cNvSpPr/>
          <p:nvPr/>
        </p:nvSpPr>
        <p:spPr>
          <a:xfrm>
            <a:off x="5623554" y="1505545"/>
            <a:ext cx="2255639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18+ Month Inpatient Waiters (2018–2021)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52104" y="1700213"/>
            <a:ext cx="3048595" cy="18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394954" y="3719606"/>
            <a:ext cx="3177546" cy="864896"/>
          </a:xfrm>
          <a:prstGeom prst="rect">
            <a:avLst/>
          </a:prstGeom>
          <a:solidFill>
            <a:srgbClr val="FF5F7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5394954" y="3719606"/>
            <a:ext cx="28575" cy="864896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5466392" y="3795257"/>
            <a:ext cx="3034671" cy="5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8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"2019 was the last year of improvement — COVID erased two years of progress in under 12 months."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466392" y="4387407"/>
            <a:ext cx="3034671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CRITICAL INSIGHT · RECOVERY PLANNING ABSENT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8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ENT, Eyes, and Urology Are Structural Bottlenecks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71500" y="798314"/>
            <a:ext cx="80010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SPECIALTY RISK ANALYSIS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71500" y="1234083"/>
            <a:ext cx="3786188" cy="3286125"/>
          </a:xfrm>
          <a:prstGeom prst="rect">
            <a:avLst/>
          </a:prstGeom>
          <a:solidFill>
            <a:srgbClr val="FFFFFF">
              <a:alpha val="1960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8" name="Google Shape;328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1376958"/>
            <a:ext cx="3486150" cy="29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8"/>
          <p:cNvSpPr/>
          <p:nvPr/>
        </p:nvSpPr>
        <p:spPr>
          <a:xfrm>
            <a:off x="4786313" y="1234083"/>
            <a:ext cx="3786188" cy="7354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786313" y="1234083"/>
            <a:ext cx="28575" cy="735416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900613" y="1355527"/>
            <a:ext cx="1544836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 (Ear, Nose &amp; Throat)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515225" y="1348383"/>
            <a:ext cx="942975" cy="169664"/>
          </a:xfrm>
          <a:prstGeom prst="rect">
            <a:avLst/>
          </a:prstGeom>
          <a:solidFill>
            <a:srgbClr val="FF5F7E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7515225" y="1348383"/>
            <a:ext cx="942975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34025" rIns="68050" bIns="34025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CRITICAL · 32.0%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900613" y="1575197"/>
            <a:ext cx="3557588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Disproportionate share of 18+ month waits. Highest long-wait rate indicates severe capacity failure.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786313" y="2083798"/>
            <a:ext cx="3786188" cy="7354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4786313" y="2083798"/>
            <a:ext cx="28575" cy="73541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4900613" y="2205242"/>
            <a:ext cx="1394817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Ophthalmology (Eyes)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7722394" y="2198098"/>
            <a:ext cx="735806" cy="169664"/>
          </a:xfrm>
          <a:prstGeom prst="rect">
            <a:avLst/>
          </a:prstGeom>
          <a:solidFill>
            <a:srgbClr val="FF9F4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7722394" y="2198098"/>
            <a:ext cx="735806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34025" rIns="68050" bIns="34025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9F43"/>
                </a:solidFill>
                <a:latin typeface="Roboto Mono"/>
                <a:ea typeface="Roboto Mono"/>
                <a:cs typeface="Roboto Mono"/>
                <a:sym typeface="Roboto Mono"/>
              </a:rPr>
              <a:t>HIGH · 24.6%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900613" y="2424912"/>
            <a:ext cx="3557588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Significant clinical risk; delayed treatment can result in permanent vision loss.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786313" y="2933514"/>
            <a:ext cx="3786188" cy="73541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786313" y="2933514"/>
            <a:ext cx="28575" cy="73541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4900613" y="3054958"/>
            <a:ext cx="494705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Urology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722394" y="3047814"/>
            <a:ext cx="735806" cy="169664"/>
          </a:xfrm>
          <a:prstGeom prst="rect">
            <a:avLst/>
          </a:prstGeom>
          <a:solidFill>
            <a:srgbClr val="FF9F43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7722394" y="3047814"/>
            <a:ext cx="735806" cy="16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50" tIns="34025" rIns="68050" bIns="34025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9F43"/>
                </a:solidFill>
                <a:latin typeface="Roboto Mono"/>
                <a:ea typeface="Roboto Mono"/>
                <a:cs typeface="Roboto Mono"/>
                <a:sym typeface="Roboto Mono"/>
              </a:rPr>
              <a:t>HIGH · 22.1%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900613" y="3274628"/>
            <a:ext cx="3557588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Cancer pathway concerns; many referrals are for suspected malignancy requiring urgent care.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786313" y="3842013"/>
            <a:ext cx="3786188" cy="676634"/>
          </a:xfrm>
          <a:prstGeom prst="rect">
            <a:avLst/>
          </a:prstGeom>
          <a:solidFill>
            <a:srgbClr val="2D7FF9">
              <a:alpha val="5098"/>
            </a:srgbClr>
          </a:solidFill>
          <a:ln w="9525" cap="flat" cmpd="sng">
            <a:solidFill>
              <a:srgbClr val="2D7F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4929188" y="3926105"/>
            <a:ext cx="3500438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KEY INSIGHT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929188" y="4095769"/>
            <a:ext cx="3500438" cy="349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Inter"/>
              <a:buNone/>
            </a:pPr>
            <a:r>
              <a:rPr lang="en-US" sz="800" b="1" i="1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"The bottleneck is capacity, not demand. These specialties do not have abnormally high volumes, but lack consultant availability."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/>
          <p:nvPr/>
        </p:nvSpPr>
        <p:spPr>
          <a:xfrm>
            <a:off x="571500" y="428625"/>
            <a:ext cx="800100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Children Carry a Disproportionate Outpatient Burden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71500" y="762595"/>
            <a:ext cx="8001000" cy="22502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71500" y="980480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71500" y="762595"/>
            <a:ext cx="8001000" cy="22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0210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DEMOGRAPHICS ANALYSIS · ADULT VS. CHILD DISTRIBUTION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71500" y="1194792"/>
            <a:ext cx="2857500" cy="1428750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85800" y="1618952"/>
            <a:ext cx="16287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Inpatient (IP)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85800" y="1842195"/>
            <a:ext cx="232172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Adult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037755" y="1842195"/>
            <a:ext cx="2768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90.4%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85800" y="2020788"/>
            <a:ext cx="226814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Child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2093119" y="2020788"/>
            <a:ext cx="221456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9.6%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4575" y="1409105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9"/>
          <p:cNvSpPr/>
          <p:nvPr/>
        </p:nvSpPr>
        <p:spPr>
          <a:xfrm>
            <a:off x="571500" y="2794992"/>
            <a:ext cx="2857500" cy="1428750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85800" y="3170932"/>
            <a:ext cx="1628775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Outpatient (OP)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85800" y="3394174"/>
            <a:ext cx="232172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Adult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2037755" y="3394174"/>
            <a:ext cx="2768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84.9%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85800" y="3572768"/>
            <a:ext cx="226814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Child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037755" y="3572768"/>
            <a:ext cx="276820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15.1%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3760291"/>
            <a:ext cx="58936" cy="7858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9"/>
          <p:cNvSpPr/>
          <p:nvPr/>
        </p:nvSpPr>
        <p:spPr>
          <a:xfrm>
            <a:off x="744736" y="3751362"/>
            <a:ext cx="721519" cy="9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68"/>
              <a:buFont typeface="Inter"/>
              <a:buNone/>
            </a:pPr>
            <a:r>
              <a:rPr lang="en-US" sz="568" b="0" i="0" u="none" strike="noStrike" cap="none">
                <a:solidFill>
                  <a:srgbClr val="FF5F7E"/>
                </a:solidFill>
                <a:latin typeface="Inter"/>
                <a:ea typeface="Inter"/>
                <a:cs typeface="Inter"/>
                <a:sym typeface="Inter"/>
              </a:rPr>
              <a:t>Higher Child Share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14575" y="3009305"/>
            <a:ext cx="10001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9"/>
          <p:cNvSpPr/>
          <p:nvPr/>
        </p:nvSpPr>
        <p:spPr>
          <a:xfrm>
            <a:off x="3714750" y="1194792"/>
            <a:ext cx="4857750" cy="2114550"/>
          </a:xfrm>
          <a:prstGeom prst="rect">
            <a:avLst/>
          </a:prstGeom>
          <a:solidFill>
            <a:srgbClr val="FFFFFF">
              <a:alpha val="3137"/>
            </a:srgbClr>
          </a:solidFill>
          <a:ln w="9525" cap="flat" cmpd="sng">
            <a:solidFill>
              <a:srgbClr val="FFFFFF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3857625" y="1337667"/>
            <a:ext cx="4572000" cy="137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84"/>
              <a:buFont typeface="Inter"/>
              <a:buNone/>
            </a:pPr>
            <a:r>
              <a:rPr lang="en-US" sz="784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Age Group Volume Trend (2018–2020)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1589484"/>
            <a:ext cx="4557713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9"/>
          <p:cNvSpPr/>
          <p:nvPr/>
        </p:nvSpPr>
        <p:spPr>
          <a:xfrm>
            <a:off x="3714750" y="3480792"/>
            <a:ext cx="1428750" cy="1000125"/>
          </a:xfrm>
          <a:prstGeom prst="rect">
            <a:avLst/>
          </a:prstGeom>
          <a:solidFill>
            <a:srgbClr val="FF5F7E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3714750" y="3480792"/>
            <a:ext cx="28575" cy="100012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857625" y="3685645"/>
            <a:ext cx="1143000" cy="301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1602"/>
              <a:buFont typeface="Roboto Mono"/>
              <a:buNone/>
            </a:pPr>
            <a:r>
              <a:rPr lang="en-US" sz="1602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+19%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857625" y="4016043"/>
            <a:ext cx="1143000" cy="26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Inter"/>
              <a:buNone/>
            </a:pPr>
            <a:r>
              <a:rPr lang="en-US" sz="674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Growth in 65+ Cohort over 2 years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5386388" y="3552230"/>
            <a:ext cx="3114675" cy="64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Inter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Finding:</a:t>
            </a: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Children represent 15.1% of outpatient waits but only 9.6% of inpatient waits. This suggests a "gatekeeping" effect where children are managed in outpatient settings for longer periods before accessing inpatient treatment.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0"/>
          <p:cNvSpPr/>
          <p:nvPr/>
        </p:nvSpPr>
        <p:spPr>
          <a:xfrm>
            <a:off x="571500" y="428625"/>
            <a:ext cx="1500188" cy="185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71500" y="607219"/>
            <a:ext cx="1500188" cy="7144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571500" y="428625"/>
            <a:ext cx="150018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025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STATISTICAL ANALYSIS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71500" y="892969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Statistical Tests Confirm Significant Deterioration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76052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0"/>
          <p:cNvSpPr/>
          <p:nvPr/>
        </p:nvSpPr>
        <p:spPr>
          <a:xfrm>
            <a:off x="739378" y="1262658"/>
            <a:ext cx="131980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Descriptive Statistics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71500" y="1532334"/>
            <a:ext cx="3086100" cy="1928813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571500" y="1532334"/>
            <a:ext cx="726570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571500" y="1818084"/>
            <a:ext cx="726570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571500" y="1532334"/>
            <a:ext cx="72657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Metric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1298070" y="1532334"/>
            <a:ext cx="786482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298070" y="1818084"/>
            <a:ext cx="786482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1298070" y="1532334"/>
            <a:ext cx="786482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Inpatient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084552" y="1532334"/>
            <a:ext cx="846395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2084552" y="1818084"/>
            <a:ext cx="846395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2084552" y="1532334"/>
            <a:ext cx="84639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Outpatient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2930947" y="1532334"/>
            <a:ext cx="726653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2930947" y="1818084"/>
            <a:ext cx="726653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2930947" y="1532334"/>
            <a:ext cx="726653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Combined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571500" y="1825228"/>
            <a:ext cx="72657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1298070" y="1825228"/>
            <a:ext cx="786482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1,842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084552" y="1825228"/>
            <a:ext cx="846395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3,104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930947" y="1825228"/>
            <a:ext cx="726653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2,612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571500" y="2093119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Median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1298070" y="2093119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892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2084552" y="2093119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1,547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930947" y="2093119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1,203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71500" y="2364581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Std Dev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298070" y="2364581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2,891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2084552" y="2364581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4,203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2930947" y="2364581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3,712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71500" y="2636044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Skewness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1298070" y="2636044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5.8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2084552" y="2636044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5.4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2930947" y="2636044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5.6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571500" y="2907506"/>
            <a:ext cx="72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Kurtosis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1298070" y="2907506"/>
            <a:ext cx="786482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42.1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2084552" y="2907506"/>
            <a:ext cx="846395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38.7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2930947" y="2907506"/>
            <a:ext cx="726653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40.3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571500" y="3178969"/>
            <a:ext cx="72657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CV%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1298070" y="3178969"/>
            <a:ext cx="786482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157%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084552" y="3178969"/>
            <a:ext cx="846395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135%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2930947" y="3178969"/>
            <a:ext cx="726653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142%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571500" y="3930151"/>
            <a:ext cx="3086100" cy="618632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571500" y="3930151"/>
            <a:ext cx="21431" cy="618632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571500" y="3930151"/>
            <a:ext cx="3086100" cy="61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36000" rIns="136000" bIns="136000" anchor="t" anchorCtr="0">
            <a:spAutoFit/>
          </a:bodyPr>
          <a:lstStyle/>
          <a:p>
            <a:pPr marL="0" marR="0" lvl="0" indent="0" algn="l" rtl="0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Inter"/>
              <a:buNone/>
            </a:pPr>
            <a:r>
              <a:rPr lang="en-US" sz="634" b="1" i="1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Methodological Note:</a:t>
            </a:r>
            <a:r>
              <a:rPr lang="en-US" sz="674" b="0" i="1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 Non-parametric tests (Kruskal-Wallis, Mann-Whitney, Spearman) were selected due to high skewness (&gt; 5.4) and non-normal distribution of waiting list counts.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3350" y="1276052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0"/>
          <p:cNvSpPr/>
          <p:nvPr/>
        </p:nvSpPr>
        <p:spPr>
          <a:xfrm>
            <a:off x="4127302" y="1262658"/>
            <a:ext cx="1693069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Hypothesis Testing Results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943350" y="1532334"/>
            <a:ext cx="4629150" cy="2502098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3943350" y="1532334"/>
            <a:ext cx="1409886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3943350" y="1818084"/>
            <a:ext cx="1409886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3943350" y="1532334"/>
            <a:ext cx="1409886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5353236" y="1532334"/>
            <a:ext cx="1176570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5353236" y="1818084"/>
            <a:ext cx="1176570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5353236" y="1532334"/>
            <a:ext cx="117657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Statistic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6529806" y="1532334"/>
            <a:ext cx="865984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6529806" y="1818084"/>
            <a:ext cx="865984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6529806" y="1532334"/>
            <a:ext cx="865984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p-value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7395790" y="1532334"/>
            <a:ext cx="1176710" cy="300038"/>
          </a:xfrm>
          <a:prstGeom prst="rect">
            <a:avLst/>
          </a:prstGeom>
          <a:solidFill>
            <a:srgbClr val="2D7FF9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7395790" y="1818084"/>
            <a:ext cx="1176710" cy="14288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7395790" y="1532334"/>
            <a:ext cx="1176710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102100" rIns="136000" bIns="102100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3943350" y="1825228"/>
            <a:ext cx="1409886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Kruskal-Wallis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5353236" y="1825228"/>
            <a:ext cx="117657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H = 141.4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6529806" y="1825228"/>
            <a:ext cx="865984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&lt; 0.001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7395790" y="1825228"/>
            <a:ext cx="1176710" cy="267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SIGNIFICANT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3943350" y="2093119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Specialty distributions differ significantly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3943350" y="2260997"/>
            <a:ext cx="1409886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Mann-Whitney U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353236" y="2260997"/>
            <a:ext cx="117657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U-stat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6529806" y="2260997"/>
            <a:ext cx="865984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≈ 0.000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7395790" y="2260997"/>
            <a:ext cx="1176710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SIGNIFICANT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3943350" y="2537817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IP vs OP distributions are distinct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3943350" y="2705695"/>
            <a:ext cx="14098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Chi-Square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5353236" y="2705695"/>
            <a:ext cx="117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χ² = 2015.7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6529806" y="2705695"/>
            <a:ext cx="865984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&lt; 0.001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7395790" y="2705695"/>
            <a:ext cx="117671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WEAK ASSOC.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3943350" y="2977158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Case type × time band association is weak (V=0.067)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3943350" y="3145036"/>
            <a:ext cx="14098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Spearman ρ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5353236" y="3145036"/>
            <a:ext cx="117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ρ = 0.194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6529806" y="3145036"/>
            <a:ext cx="865984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0.001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7395790" y="3145036"/>
            <a:ext cx="117671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TRENDING UP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3943350" y="3416498"/>
            <a:ext cx="4629150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Confirmed upward deterioration over time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3943350" y="3584377"/>
            <a:ext cx="1409886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Pearson r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5353236" y="3584377"/>
            <a:ext cx="117657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r = 0.114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6529806" y="3584377"/>
            <a:ext cx="865984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74"/>
              <a:buFont typeface="Roboto Mono"/>
              <a:buNone/>
            </a:pPr>
            <a:r>
              <a:rPr lang="en-US" sz="67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0.068</a:t>
            </a:r>
            <a:endParaRPr sz="6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7395790" y="3584377"/>
            <a:ext cx="1176710" cy="27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85075" rIns="136000" bIns="85075" anchor="ctr" anchorCtr="0">
            <a:spAutoFit/>
          </a:bodyPr>
          <a:lstStyle/>
          <a:p>
            <a:pPr marL="0" marR="0" lvl="0" indent="0" algn="l" rtl="0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634"/>
              <a:buFont typeface="Roboto Mono"/>
              <a:buNone/>
            </a:pPr>
            <a:r>
              <a:rPr lang="en-US" sz="63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MARGINAL</a:t>
            </a:r>
            <a:endParaRPr sz="6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3943350" y="3855839"/>
            <a:ext cx="462915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6000" tIns="34025" rIns="136000" bIns="34025" anchor="ctr" anchorCtr="0">
            <a:spAutoFit/>
          </a:bodyPr>
          <a:lstStyle/>
          <a:p>
            <a:pPr marL="0" marR="0" lvl="0" indent="0" algn="l" rtl="0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68"/>
              <a:buFont typeface="Roboto Mono"/>
              <a:buNone/>
            </a:pPr>
            <a:r>
              <a:rPr lang="en-US" sz="568" b="0" i="0" u="none" strike="noStrike" cap="none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Interpretation: Linear trend marginal; non-linear preferred</a:t>
            </a:r>
            <a:endParaRPr sz="56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8"/>
              <a:buFont typeface="Inter"/>
              <a:buNone/>
            </a:pPr>
            <a:r>
              <a:rPr lang="en-US" sz="1808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Six Prioritised Actions to Break the 18-Month Barrier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571500" y="798314"/>
            <a:ext cx="8001000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RECOMMENDATIONS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571500" y="1234083"/>
            <a:ext cx="2552691" cy="1596963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571500" y="1234083"/>
            <a:ext cx="2552691" cy="28575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3117047" y="1234083"/>
            <a:ext cx="7144" cy="15969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571500" y="2823902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571500" y="1234083"/>
            <a:ext cx="7144" cy="15969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" name="Google Shape;50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" y="141892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1"/>
          <p:cNvSpPr/>
          <p:nvPr/>
        </p:nvSpPr>
        <p:spPr>
          <a:xfrm>
            <a:off x="885825" y="1405533"/>
            <a:ext cx="880467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7E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5F7E"/>
                </a:solidFill>
                <a:latin typeface="Roboto Mono"/>
                <a:ea typeface="Roboto Mono"/>
                <a:cs typeface="Roboto Mono"/>
                <a:sym typeface="Roboto Mono"/>
              </a:rPr>
              <a:t>CRITICAL PRIORITY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p11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2838441" y="137695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1"/>
          <p:cNvSpPr/>
          <p:nvPr/>
        </p:nvSpPr>
        <p:spPr>
          <a:xfrm>
            <a:off x="742950" y="1603772"/>
            <a:ext cx="2209791" cy="33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Declare National 18+ Month Emergency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742950" y="2023802"/>
            <a:ext cx="220979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Establish a dedicated taskforce with ministerial accountability. 4.58M patients waiting beyond 18 months requires an emergency-level response.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3295641" y="1234083"/>
            <a:ext cx="2552691" cy="1561244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3295641" y="1234083"/>
            <a:ext cx="2552691" cy="28575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5841188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3295641" y="2788183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3295641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7091" y="141892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1"/>
          <p:cNvSpPr/>
          <p:nvPr/>
        </p:nvSpPr>
        <p:spPr>
          <a:xfrm>
            <a:off x="3609966" y="1405533"/>
            <a:ext cx="673298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FF9F43"/>
                </a:solidFill>
                <a:latin typeface="Roboto Mono"/>
                <a:ea typeface="Roboto Mono"/>
                <a:cs typeface="Roboto Mono"/>
                <a:sym typeface="Roboto Mono"/>
              </a:rPr>
              <a:t>HIGH PRIORITY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11" descr="preencoded.png"/>
          <p:cNvPicPr preferRelativeResize="0"/>
          <p:nvPr/>
        </p:nvPicPr>
        <p:blipFill rotWithShape="1">
          <a:blip r:embed="rId7">
            <a:alphaModFix amt="50000"/>
          </a:blip>
          <a:srcRect/>
          <a:stretch/>
        </p:blipFill>
        <p:spPr>
          <a:xfrm>
            <a:off x="5598300" y="1376958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1"/>
          <p:cNvSpPr/>
          <p:nvPr/>
        </p:nvSpPr>
        <p:spPr>
          <a:xfrm>
            <a:off x="3467091" y="1603772"/>
            <a:ext cx="2209791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COVID Backlog Recovery Plan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3467091" y="2023802"/>
            <a:ext cx="220979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Implement a structured, specialty-specific clearance programme with monthly milestones. The +121% surge has no current recovery trajectory.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6019781" y="1234083"/>
            <a:ext cx="2552719" cy="1561244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6019781" y="1234083"/>
            <a:ext cx="2552719" cy="28575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8565356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6019781" y="2788183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6019781" y="1234083"/>
            <a:ext cx="7144" cy="15612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2" name="Google Shape;522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231" y="141892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1"/>
          <p:cNvSpPr/>
          <p:nvPr/>
        </p:nvSpPr>
        <p:spPr>
          <a:xfrm>
            <a:off x="6334106" y="1405533"/>
            <a:ext cx="569714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OPERATIONAL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1" descr="preencoded.png"/>
          <p:cNvPicPr preferRelativeResize="0"/>
          <p:nvPr/>
        </p:nvPicPr>
        <p:blipFill rotWithShape="1">
          <a:blip r:embed="rId9">
            <a:alphaModFix amt="50000"/>
          </a:blip>
          <a:srcRect/>
          <a:stretch/>
        </p:blipFill>
        <p:spPr>
          <a:xfrm>
            <a:off x="8251031" y="137695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1"/>
          <p:cNvSpPr/>
          <p:nvPr/>
        </p:nvSpPr>
        <p:spPr>
          <a:xfrm>
            <a:off x="6191231" y="1603772"/>
            <a:ext cx="2209819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Realign Resources to Outpatient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6191231" y="2173821"/>
            <a:ext cx="22098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88.2% of the patient-wait burden is in outpatient settings. Capacity investment must shift from inpatient beds to outpatient clinics.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571500" y="2966777"/>
            <a:ext cx="2552691" cy="1553431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571500" y="2966777"/>
            <a:ext cx="2552691" cy="28575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3117047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571500" y="451306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571500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2" name="Google Shape;532;p1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2950" y="3151622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1"/>
          <p:cNvSpPr/>
          <p:nvPr/>
        </p:nvSpPr>
        <p:spPr>
          <a:xfrm>
            <a:off x="885825" y="3138227"/>
            <a:ext cx="621506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894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00B894"/>
                </a:solidFill>
                <a:latin typeface="Roboto Mono"/>
                <a:ea typeface="Roboto Mono"/>
                <a:cs typeface="Roboto Mono"/>
                <a:sym typeface="Roboto Mono"/>
              </a:rPr>
              <a:t>EQUITY FOCUS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11" descr="preencoded.png"/>
          <p:cNvPicPr preferRelativeResize="0"/>
          <p:nvPr/>
        </p:nvPicPr>
        <p:blipFill rotWithShape="1">
          <a:blip r:embed="rId11">
            <a:alphaModFix amt="50000"/>
          </a:blip>
          <a:srcRect/>
          <a:stretch/>
        </p:blipFill>
        <p:spPr>
          <a:xfrm>
            <a:off x="2856300" y="3109652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1"/>
          <p:cNvSpPr/>
          <p:nvPr/>
        </p:nvSpPr>
        <p:spPr>
          <a:xfrm>
            <a:off x="742950" y="3336466"/>
            <a:ext cx="2209791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Ring-Fence Paediatric Capacity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742950" y="3898702"/>
            <a:ext cx="220979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Children represent 15.1% of OP waits but only 9.6% of IP slots. Dedicated pathways are needed to prevent developmental risks.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3295641" y="2966777"/>
            <a:ext cx="2552691" cy="1553431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3295641" y="2966777"/>
            <a:ext cx="2552691" cy="28575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1"/>
          <p:cNvSpPr/>
          <p:nvPr/>
        </p:nvSpPr>
        <p:spPr>
          <a:xfrm>
            <a:off x="5841188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3295641" y="4513064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3295641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2" name="Google Shape;542;p1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67091" y="3151622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1"/>
          <p:cNvSpPr/>
          <p:nvPr/>
        </p:nvSpPr>
        <p:spPr>
          <a:xfrm>
            <a:off x="3609966" y="3138227"/>
            <a:ext cx="517922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A29BFE"/>
                </a:solidFill>
                <a:latin typeface="Roboto Mono"/>
                <a:ea typeface="Roboto Mono"/>
                <a:cs typeface="Roboto Mono"/>
                <a:sym typeface="Roboto Mono"/>
              </a:rPr>
              <a:t>MONITORING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11" descr="preencoded.png"/>
          <p:cNvPicPr preferRelativeResize="0"/>
          <p:nvPr/>
        </p:nvPicPr>
        <p:blipFill rotWithShape="1">
          <a:blip r:embed="rId13">
            <a:alphaModFix amt="50000"/>
          </a:blip>
          <a:srcRect/>
          <a:stretch/>
        </p:blipFill>
        <p:spPr>
          <a:xfrm>
            <a:off x="5562581" y="310965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1"/>
          <p:cNvSpPr/>
          <p:nvPr/>
        </p:nvSpPr>
        <p:spPr>
          <a:xfrm>
            <a:off x="3467091" y="3336466"/>
            <a:ext cx="2209791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Monthly KPI Alerting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3467091" y="3898702"/>
            <a:ext cx="2209791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Deploy live dashboards with threshold alerts. Statistical deterioration (ρ=0.194) was detectable long before the crisis peaked.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6019781" y="2966777"/>
            <a:ext cx="2552719" cy="1553431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6019781" y="2966777"/>
            <a:ext cx="2552719" cy="28575"/>
          </a:xfrm>
          <a:prstGeom prst="rect">
            <a:avLst/>
          </a:prstGeom>
          <a:solidFill>
            <a:srgbClr val="B0B8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8565356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6019781" y="4513064"/>
            <a:ext cx="2552719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6019781" y="2966777"/>
            <a:ext cx="7144" cy="15534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2" name="Google Shape;552;p1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91231" y="3151622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1"/>
          <p:cNvSpPr/>
          <p:nvPr/>
        </p:nvSpPr>
        <p:spPr>
          <a:xfrm>
            <a:off x="6334106" y="3138227"/>
            <a:ext cx="414338" cy="11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584"/>
              <a:buFont typeface="Roboto Mono"/>
              <a:buNone/>
            </a:pPr>
            <a:r>
              <a:rPr lang="en-US" sz="584" b="1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DATA OPS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11" descr="preencoded.png"/>
          <p:cNvPicPr preferRelativeResize="0"/>
          <p:nvPr/>
        </p:nvPicPr>
        <p:blipFill rotWithShape="1">
          <a:blip r:embed="rId15">
            <a:alphaModFix amt="50000"/>
          </a:blip>
          <a:srcRect/>
          <a:stretch/>
        </p:blipFill>
        <p:spPr>
          <a:xfrm>
            <a:off x="8304609" y="3109652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1"/>
          <p:cNvSpPr/>
          <p:nvPr/>
        </p:nvSpPr>
        <p:spPr>
          <a:xfrm>
            <a:off x="6191231" y="3336466"/>
            <a:ext cx="2209819" cy="16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Inter"/>
              <a:buNone/>
            </a:pPr>
            <a:r>
              <a:rPr lang="en-US" sz="88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Fix Missing HIPE Codes &amp; Linkage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6191231" y="3898702"/>
            <a:ext cx="22098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727"/>
              <a:buFont typeface="Inter"/>
              <a:buNone/>
            </a:pPr>
            <a:r>
              <a:rPr lang="en-US" sz="727" b="0" i="0" u="none" strike="noStrike" cap="none">
                <a:solidFill>
                  <a:srgbClr val="B0B8C4"/>
                </a:solidFill>
                <a:latin typeface="Inter"/>
                <a:ea typeface="Inter"/>
                <a:cs typeface="Inter"/>
                <a:sym typeface="Inter"/>
              </a:rPr>
              <a:t>Resolve the 191 missing codes and enable patient-level linkage. Current aggregate data limits causal analysis and pathway mapping.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1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1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2"/>
          <p:cNvSpPr/>
          <p:nvPr/>
        </p:nvSpPr>
        <p:spPr>
          <a:xfrm>
            <a:off x="1357325" y="1120825"/>
            <a:ext cx="64293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494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4410"/>
              <a:buFont typeface="Arial"/>
              <a:buNone/>
            </a:pPr>
            <a:r>
              <a:rPr lang="en-US" sz="4410" b="0" i="0" u="none" strike="noStrike" cap="none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834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Behind every number is a patient</a:t>
            </a:r>
            <a:endParaRPr sz="2592" b="0" i="1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2494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4410"/>
              <a:buFont typeface="Arial"/>
              <a:buNone/>
            </a:pPr>
            <a:b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2592" b="0" i="1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24943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4410"/>
              <a:buFont typeface="Arial"/>
              <a:buNone/>
            </a:pPr>
            <a:r>
              <a:rPr lang="en-US" sz="2592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waiting in pain.</a:t>
            </a:r>
            <a:r>
              <a:rPr lang="en-US" sz="834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410" b="0" i="0" u="none" strike="noStrike" cap="none">
                <a:solidFill>
                  <a:srgbClr val="2D7FF9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2428875" y="2384924"/>
            <a:ext cx="4286250" cy="14288"/>
          </a:xfrm>
          <a:prstGeom prst="rect">
            <a:avLst/>
          </a:prstGeom>
          <a:solidFill>
            <a:srgbClr val="FF5F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102173" y="2827837"/>
            <a:ext cx="2939653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Inter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Nallabothula Pavan Kumar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1339" y="323681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2"/>
          <p:cNvSpPr/>
          <p:nvPr/>
        </p:nvSpPr>
        <p:spPr>
          <a:xfrm>
            <a:off x="2327077" y="3218957"/>
            <a:ext cx="1696641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npavankumarus72@gmail.com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2" name="Google Shape;572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2317" y="3236816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2"/>
          <p:cNvSpPr/>
          <p:nvPr/>
        </p:nvSpPr>
        <p:spPr>
          <a:xfrm>
            <a:off x="4423767" y="3218957"/>
            <a:ext cx="2578894" cy="15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B8C4"/>
              </a:buClr>
              <a:buSzPts val="834"/>
              <a:buFont typeface="Roboto Mono"/>
              <a:buNone/>
            </a:pPr>
            <a:r>
              <a:rPr lang="en-US" sz="834" b="0" i="0" u="none" strike="noStrike" cap="none">
                <a:solidFill>
                  <a:srgbClr val="B0B8C4"/>
                </a:solidFill>
                <a:latin typeface="Roboto Mono"/>
                <a:ea typeface="Roboto Mono"/>
                <a:cs typeface="Roboto Mono"/>
                <a:sym typeface="Roboto Mono"/>
              </a:rPr>
              <a:t>linkedin.com/in/nallabothulapavankumar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2033290" y="3654726"/>
            <a:ext cx="496491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2033290" y="3654726"/>
            <a:ext cx="496491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PYTHON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2608362" y="3654726"/>
            <a:ext cx="341114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2608346" y="3654788"/>
            <a:ext cx="4965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l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SQL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3028057" y="3654726"/>
            <a:ext cx="496491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3028057" y="3654726"/>
            <a:ext cx="496491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3603129" y="3654726"/>
            <a:ext cx="703659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3603129" y="3654726"/>
            <a:ext cx="703659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4385370" y="3654726"/>
            <a:ext cx="548283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4385370" y="3654726"/>
            <a:ext cx="548283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5012234" y="3654726"/>
            <a:ext cx="496491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2"/>
          <p:cNvSpPr/>
          <p:nvPr/>
        </p:nvSpPr>
        <p:spPr>
          <a:xfrm>
            <a:off x="5012234" y="3654726"/>
            <a:ext cx="496491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PLOTLY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5587305" y="3654726"/>
            <a:ext cx="1480542" cy="212527"/>
          </a:xfrm>
          <a:prstGeom prst="rect">
            <a:avLst/>
          </a:prstGeom>
          <a:solidFill>
            <a:srgbClr val="2D7FF9">
              <a:alpha val="10196"/>
            </a:srgbClr>
          </a:solidFill>
          <a:ln w="9525" cap="flat" cmpd="sng">
            <a:solidFill>
              <a:srgbClr val="2D7FF9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5587305" y="3654726"/>
            <a:ext cx="1480542" cy="21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100" tIns="51050" rIns="102100" bIns="51050" anchor="t" anchorCtr="0">
            <a:spAutoFit/>
          </a:bodyPr>
          <a:lstStyle/>
          <a:p>
            <a:pPr marL="0" marR="0" lvl="0" indent="0" algn="ctr" rtl="0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2D7FF9"/>
              </a:buClr>
              <a:buSzPts val="621"/>
              <a:buFont typeface="Roboto Mono"/>
              <a:buNone/>
            </a:pPr>
            <a:r>
              <a:rPr lang="en-US" sz="621" b="0" i="0" u="none" strike="noStrike" cap="none">
                <a:solidFill>
                  <a:srgbClr val="2D7FF9"/>
                </a:solidFill>
                <a:latin typeface="Roboto Mono"/>
                <a:ea typeface="Roboto Mono"/>
                <a:cs typeface="Roboto Mono"/>
                <a:sym typeface="Roboto Mono"/>
              </a:rPr>
              <a:t>HSE EDA PORTFOLIO PROJECT</a:t>
            </a:r>
            <a:endParaRPr sz="6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571500" y="4604147"/>
            <a:ext cx="8001000" cy="25360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2"/>
          <p:cNvSpPr/>
          <p:nvPr/>
        </p:nvSpPr>
        <p:spPr>
          <a:xfrm>
            <a:off x="571500" y="4604147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571500" y="4725591"/>
            <a:ext cx="303609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NPK05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8451056" y="4725591"/>
            <a:ext cx="121444" cy="13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27"/>
              <a:buFont typeface="Roboto Mono"/>
              <a:buNone/>
            </a:pPr>
            <a:r>
              <a:rPr lang="en-US" sz="727" b="0" i="0" u="none" strike="noStrike" cap="none">
                <a:solidFill>
                  <a:srgbClr val="555555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1337</Words>
  <Application>Microsoft Office PowerPoint</Application>
  <PresentationFormat>On-screen Show (16:9)</PresentationFormat>
  <Paragraphs>306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Roboto Mono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Pavan Kumar Nallabothula</cp:lastModifiedBy>
  <cp:revision>1</cp:revision>
  <dcterms:created xsi:type="dcterms:W3CDTF">2026-03-13T21:57:29Z</dcterms:created>
  <dcterms:modified xsi:type="dcterms:W3CDTF">2026-03-13T22:18:20Z</dcterms:modified>
</cp:coreProperties>
</file>